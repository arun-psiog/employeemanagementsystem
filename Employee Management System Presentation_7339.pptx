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63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7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14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9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75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23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56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66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626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47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547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330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454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87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462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083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835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37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711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030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6109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771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87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622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2720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33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E3CC2A85-CA7D-4333-A827-8F86A8DC060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EC61C98C-F47A-47D4-8B22-7A9691982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89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  <p:sldLayoutId id="214748378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F350-8233-E70D-A351-95AABD341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Management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4820D-7C82-D1F9-6D9C-CA92F9844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90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9F9D-9856-2025-EC4D-142C9558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5B1F-0F14-A945-F9FB-8C5CDE892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Employee Management System (EMS)</a:t>
                </a:r>
                <a:r>
                  <a:rPr lang="en-IN" dirty="0"/>
                  <a:t> is a modular, enterprise CRUD web application built on </a:t>
                </a:r>
                <a:r>
                  <a:rPr lang="en-IN" b="1" dirty="0"/>
                  <a:t>ASP.NET Web Forms (.NET Framework 4.8)</a:t>
                </a:r>
                <a:r>
                  <a:rPr lang="en-IN" dirty="0"/>
                  <a:t> using </a:t>
                </a:r>
                <a:r>
                  <a:rPr lang="en-IN" b="1" dirty="0"/>
                  <a:t>MySQL Server</a:t>
                </a:r>
                <a:r>
                  <a:rPr lang="en-IN" dirty="0"/>
                  <a:t> as the relational database and </a:t>
                </a:r>
                <a:r>
                  <a:rPr lang="en-IN" b="1" dirty="0"/>
                  <a:t>Dapper Micro-ORM</a:t>
                </a:r>
                <a:r>
                  <a:rPr lang="en-IN" dirty="0"/>
                  <a:t> for data access. </a:t>
                </a:r>
              </a:p>
              <a:p>
                <a:r>
                  <a:rPr lang="en-IN" dirty="0"/>
                  <a:t>The system implements clean 3-tier layering (Presentation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dirty="0"/>
                  <a:t>Business Logic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dirty="0"/>
                  <a:t>Data Access) and incorporates Role-Based Access Control (RBAC), secure cryptography, asynchronous background batch processing, audit logging, and multi-format report exports. 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5B1F-0F14-A945-F9FB-8C5CDE892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87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D4-9B4C-0017-E8BA-2215CCFA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Forms Page Lifecycle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E4FD-D9E7-8E65-C502-807708CE8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EMS leverages ASP.NET Web Forms lifecycle events to handle security, state persistence, and database interactions at exact execution phases: </a:t>
            </a:r>
          </a:p>
          <a:p>
            <a:pPr lvl="1"/>
            <a:r>
              <a:rPr lang="en-IN" b="1" dirty="0" err="1"/>
              <a:t>PreInit</a:t>
            </a:r>
            <a:r>
              <a:rPr lang="en-IN" b="1" dirty="0"/>
              <a:t> (Security Interception):</a:t>
            </a:r>
            <a:r>
              <a:rPr lang="en-IN" dirty="0"/>
              <a:t> </a:t>
            </a:r>
            <a:r>
              <a:rPr lang="en-IN" dirty="0" err="1"/>
              <a:t>BasePage.cs</a:t>
            </a:r>
            <a:r>
              <a:rPr lang="en-IN" dirty="0"/>
              <a:t> intercepts this stage before controls are initialized. It validates Session["</a:t>
            </a:r>
            <a:r>
              <a:rPr lang="en-IN" dirty="0" err="1"/>
              <a:t>UserRole</a:t>
            </a:r>
            <a:r>
              <a:rPr lang="en-IN" dirty="0"/>
              <a:t>"] and immediately redirects unauthenticated or unauthorized users. </a:t>
            </a:r>
          </a:p>
          <a:p>
            <a:pPr lvl="1"/>
            <a:r>
              <a:rPr lang="en-IN" b="1" dirty="0"/>
              <a:t>Init:</a:t>
            </a:r>
            <a:r>
              <a:rPr lang="en-IN" dirty="0"/>
              <a:t> Builds the control hierarchy; </a:t>
            </a:r>
            <a:r>
              <a:rPr lang="en-IN" dirty="0" err="1"/>
              <a:t>ViewState</a:t>
            </a:r>
            <a:r>
              <a:rPr lang="en-IN" dirty="0"/>
              <a:t> is not yet restored at this stage. </a:t>
            </a:r>
          </a:p>
          <a:p>
            <a:pPr lvl="1"/>
            <a:r>
              <a:rPr lang="en-IN" b="1" dirty="0"/>
              <a:t>Load (</a:t>
            </a:r>
            <a:r>
              <a:rPr lang="en-IN" b="1" dirty="0" err="1"/>
              <a:t>Page_Load</a:t>
            </a:r>
            <a:r>
              <a:rPr lang="en-IN" b="1" dirty="0"/>
              <a:t>):</a:t>
            </a:r>
            <a:r>
              <a:rPr lang="en-IN" dirty="0"/>
              <a:t> Checks if (!</a:t>
            </a:r>
            <a:r>
              <a:rPr lang="en-IN" dirty="0" err="1"/>
              <a:t>IsPostBack</a:t>
            </a:r>
            <a:r>
              <a:rPr lang="en-IN" dirty="0"/>
              <a:t>) to load initial data, execute Dapper read queries, and populate dropdowns or grid controls. </a:t>
            </a:r>
          </a:p>
          <a:p>
            <a:pPr lvl="1"/>
            <a:r>
              <a:rPr lang="en-IN" b="1" dirty="0"/>
              <a:t>Event (</a:t>
            </a:r>
            <a:r>
              <a:rPr lang="en-IN" b="1" dirty="0" err="1"/>
              <a:t>PostBack</a:t>
            </a:r>
            <a:r>
              <a:rPr lang="en-IN" b="1" dirty="0"/>
              <a:t> Events):</a:t>
            </a:r>
            <a:r>
              <a:rPr lang="en-IN" dirty="0"/>
              <a:t> Handles button clicks or </a:t>
            </a:r>
            <a:r>
              <a:rPr lang="en-IN" dirty="0" err="1"/>
              <a:t>RowCommand</a:t>
            </a:r>
            <a:r>
              <a:rPr lang="en-IN" dirty="0"/>
              <a:t> actions (e.g., executing CRUD operations via Dapper and recording audit entries). </a:t>
            </a:r>
          </a:p>
          <a:p>
            <a:pPr lvl="1"/>
            <a:r>
              <a:rPr lang="en-IN" b="1" dirty="0" err="1"/>
              <a:t>PreRender</a:t>
            </a:r>
            <a:r>
              <a:rPr lang="en-IN" b="1" dirty="0"/>
              <a:t> (</a:t>
            </a:r>
            <a:r>
              <a:rPr lang="en-IN" b="1" dirty="0" err="1"/>
              <a:t>RowDataBound</a:t>
            </a:r>
            <a:r>
              <a:rPr lang="en-IN" b="1" dirty="0"/>
              <a:t>):</a:t>
            </a:r>
            <a:r>
              <a:rPr lang="en-IN" dirty="0"/>
              <a:t> Applies dynamic UI rules and role-based control visibility (e.g., hiding Delete or Rollback buttons for non-Admin roles). </a:t>
            </a:r>
          </a:p>
          <a:p>
            <a:pPr lvl="1"/>
            <a:r>
              <a:rPr lang="en-IN" b="1" dirty="0"/>
              <a:t>Render:</a:t>
            </a:r>
            <a:r>
              <a:rPr lang="en-IN" dirty="0"/>
              <a:t> Generates HTML markup and streams it to the client browser. </a:t>
            </a:r>
          </a:p>
          <a:p>
            <a:pPr lvl="1"/>
            <a:r>
              <a:rPr lang="en-IN" b="1" dirty="0"/>
              <a:t>Unload:</a:t>
            </a:r>
            <a:r>
              <a:rPr lang="en-IN" dirty="0"/>
              <a:t> Disposes page and control resources. All database connections are already closed safely via using statements.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13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591D-0121-632E-DEA6-1F18277C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Folder Structure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3383A27-8560-436E-D879-9B790EF5A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930" y="2005013"/>
            <a:ext cx="9417339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29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E4A0-8DDC-814F-717B-60009A2A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Password Hashing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0226-9B74-3ACA-AC1D-F516CD3D1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Password security is managed in </a:t>
            </a:r>
            <a:r>
              <a:rPr lang="en-IN" dirty="0" err="1"/>
              <a:t>PasswordHelper.cs</a:t>
            </a:r>
            <a:r>
              <a:rPr lang="en-IN" dirty="0"/>
              <a:t> using industry-standard </a:t>
            </a:r>
            <a:r>
              <a:rPr lang="en-IN" b="1" dirty="0"/>
              <a:t>PBKDF2</a:t>
            </a:r>
            <a:r>
              <a:rPr lang="en-IN" dirty="0"/>
              <a:t>:</a:t>
            </a:r>
          </a:p>
          <a:p>
            <a:pPr lvl="0"/>
            <a:r>
              <a:rPr lang="en-IN" b="1" dirty="0"/>
              <a:t>Salt Generation:</a:t>
            </a:r>
            <a:r>
              <a:rPr lang="en-IN" dirty="0"/>
              <a:t> Uses a unique cryptographically secure 32-byte salt per user. </a:t>
            </a:r>
          </a:p>
          <a:p>
            <a:pPr lvl="0"/>
            <a:r>
              <a:rPr lang="en-IN" b="1" dirty="0"/>
              <a:t>Key Derivation:</a:t>
            </a:r>
            <a:r>
              <a:rPr lang="en-IN" dirty="0"/>
              <a:t> Applies </a:t>
            </a:r>
            <a:r>
              <a:rPr lang="en-IN" b="1" dirty="0"/>
              <a:t>100,000 iterations of SHA-256</a:t>
            </a:r>
            <a:r>
              <a:rPr lang="en-IN" dirty="0"/>
              <a:t> to derive the password hash. </a:t>
            </a:r>
          </a:p>
          <a:p>
            <a:pPr lvl="0"/>
            <a:r>
              <a:rPr lang="en-IN" b="1" dirty="0"/>
              <a:t>Storage:</a:t>
            </a:r>
            <a:r>
              <a:rPr lang="en-IN" dirty="0"/>
              <a:t> Plaintext passwords are never stored, logged, or serialized.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41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7BED-9983-02B3-5254-F66EEF5C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Authentication, Login Flow &amp; RBAC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DFBFF-5980-4100-EBCC-9A9FCCFBE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How the Login Works:</a:t>
            </a:r>
          </a:p>
          <a:p>
            <a:pPr lvl="1"/>
            <a:r>
              <a:rPr lang="en-IN" b="1" dirty="0"/>
              <a:t>Credential Submission:</a:t>
            </a:r>
            <a:r>
              <a:rPr lang="en-IN" dirty="0"/>
              <a:t> The user submits their username/email and plaintext password via Login.aspx. </a:t>
            </a:r>
          </a:p>
          <a:p>
            <a:pPr lvl="1"/>
            <a:r>
              <a:rPr lang="en-IN" b="1" dirty="0"/>
              <a:t>Account Lockout Check:</a:t>
            </a:r>
            <a:r>
              <a:rPr lang="en-IN" dirty="0"/>
              <a:t> The system verifies if the account is currently locked. If 5 consecutive invalid attempts occur, the account is locked. </a:t>
            </a:r>
          </a:p>
          <a:p>
            <a:pPr lvl="1"/>
            <a:r>
              <a:rPr lang="en-IN" b="1" dirty="0"/>
              <a:t>Hash Verification:</a:t>
            </a:r>
            <a:r>
              <a:rPr lang="en-IN" dirty="0"/>
              <a:t> The user's stored salt is retrieved, and the provided password is authenticated using PBKDF2. </a:t>
            </a:r>
          </a:p>
          <a:p>
            <a:pPr lvl="1"/>
            <a:r>
              <a:rPr lang="en-IN" b="1" dirty="0"/>
              <a:t>Activity Logging:</a:t>
            </a:r>
            <a:r>
              <a:rPr lang="en-IN" dirty="0"/>
              <a:t> </a:t>
            </a:r>
            <a:r>
              <a:rPr lang="en-IN" dirty="0" err="1"/>
              <a:t>ActivityLogger.cs</a:t>
            </a:r>
            <a:r>
              <a:rPr lang="en-IN" dirty="0"/>
              <a:t> logs the login event, capturing the user's ID, timestamp, and client IP address.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11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DDC9-C062-CD16-7464-13D3F6EB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Role-Based Access Control (RBAC)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55722-9FA1-A0A0-3996-55206150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Enforced at the architectural level via </a:t>
            </a:r>
            <a:r>
              <a:rPr lang="en-IN" dirty="0" err="1"/>
              <a:t>BasePage.cs</a:t>
            </a:r>
            <a:r>
              <a:rPr lang="en-IN" dirty="0"/>
              <a:t> on </a:t>
            </a:r>
            <a:r>
              <a:rPr lang="en-IN" dirty="0" err="1"/>
              <a:t>OnPreInit</a:t>
            </a:r>
            <a:r>
              <a:rPr lang="en-IN" dirty="0"/>
              <a:t> across three defined tiers: </a:t>
            </a:r>
          </a:p>
          <a:p>
            <a:pPr lvl="0"/>
            <a:r>
              <a:rPr lang="en-IN" b="1" dirty="0"/>
              <a:t>Admin:</a:t>
            </a:r>
            <a:r>
              <a:rPr lang="en-IN" dirty="0"/>
              <a:t> Full CRUD capabilities, bulk uploads, soft rollbacks, and report generation. </a:t>
            </a:r>
          </a:p>
          <a:p>
            <a:pPr lvl="0"/>
            <a:r>
              <a:rPr lang="en-IN" b="1" dirty="0"/>
              <a:t>HR:</a:t>
            </a:r>
            <a:r>
              <a:rPr lang="en-IN" dirty="0"/>
              <a:t> Create, view, bulk upload, and view reports (Delete and Rollback actions are hidden and disabled). </a:t>
            </a:r>
          </a:p>
          <a:p>
            <a:pPr lvl="0"/>
            <a:r>
              <a:rPr lang="en-IN" b="1" dirty="0"/>
              <a:t>Employee:</a:t>
            </a:r>
            <a:r>
              <a:rPr lang="en-IN" dirty="0"/>
              <a:t> View-only access to the employee directory.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96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21F7-6218-4F79-FC03-ECD175BD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Database Connection &amp; Data Access Layer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6BE1A-5098-2C05-F665-9B827C34B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Architecture &amp; Connection</a:t>
            </a:r>
          </a:p>
          <a:p>
            <a:pPr lvl="1"/>
            <a:r>
              <a:rPr lang="en-IN" b="1" dirty="0"/>
              <a:t>Factory Pattern (</a:t>
            </a:r>
            <a:r>
              <a:rPr lang="en-IN" b="1" dirty="0" err="1"/>
              <a:t>DBHelper.cs</a:t>
            </a:r>
            <a:r>
              <a:rPr lang="en-IN" b="1" dirty="0"/>
              <a:t>):</a:t>
            </a:r>
            <a:r>
              <a:rPr lang="en-IN" dirty="0"/>
              <a:t> Manages connection strings securely from </a:t>
            </a:r>
            <a:r>
              <a:rPr lang="en-IN" dirty="0" err="1"/>
              <a:t>Web.config</a:t>
            </a:r>
            <a:r>
              <a:rPr lang="en-IN" dirty="0"/>
              <a:t> and instantiates </a:t>
            </a:r>
            <a:r>
              <a:rPr lang="en-IN" dirty="0" err="1"/>
              <a:t>MySqlConnection</a:t>
            </a:r>
            <a:r>
              <a:rPr lang="en-IN" dirty="0"/>
              <a:t> instances. </a:t>
            </a:r>
          </a:p>
          <a:p>
            <a:pPr lvl="1"/>
            <a:r>
              <a:rPr lang="en-IN" b="1" dirty="0"/>
              <a:t>Connection Pooling &amp; Safety:</a:t>
            </a:r>
            <a:r>
              <a:rPr lang="en-IN" dirty="0"/>
              <a:t> Connections are wrapped in using (var conn = </a:t>
            </a:r>
            <a:r>
              <a:rPr lang="en-IN" dirty="0" err="1"/>
              <a:t>DBHelper.GetConnection</a:t>
            </a:r>
            <a:r>
              <a:rPr lang="en-IN" dirty="0"/>
              <a:t>()) blocks to guarantee immediate socket closure and pool reclamation.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62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0352-1A06-4106-0507-E8A748FA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Execution (Dapper Micro-ORM)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B970-8D7D-C947-A207-4634E1436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SQL Injection Prevention:</a:t>
            </a:r>
            <a:r>
              <a:rPr lang="en-IN" dirty="0"/>
              <a:t> All queries use parameterized inputs (e.g., </a:t>
            </a:r>
            <a:r>
              <a:rPr lang="en-IN" dirty="0" err="1"/>
              <a:t>DynamicParameters</a:t>
            </a:r>
            <a:r>
              <a:rPr lang="en-IN" dirty="0"/>
              <a:t>). </a:t>
            </a:r>
          </a:p>
          <a:p>
            <a:pPr lvl="0"/>
            <a:r>
              <a:rPr lang="en-IN" b="1" dirty="0"/>
              <a:t>Server-Side Pagination:</a:t>
            </a:r>
            <a:r>
              <a:rPr lang="en-IN" dirty="0"/>
              <a:t> Grid directory queries use LIMIT @PageSize OFFSET @Offset alongside a separate lightweight COUNT(1) query for total count calculation. </a:t>
            </a:r>
          </a:p>
          <a:p>
            <a:pPr lvl="0"/>
            <a:r>
              <a:rPr lang="en-IN" b="1" dirty="0"/>
              <a:t>Soft Deletion:</a:t>
            </a:r>
            <a:r>
              <a:rPr lang="en-IN" dirty="0"/>
              <a:t> Deletion sets </a:t>
            </a:r>
            <a:r>
              <a:rPr lang="en-IN" dirty="0" err="1"/>
              <a:t>IsDeleted</a:t>
            </a:r>
            <a:r>
              <a:rPr lang="en-IN" dirty="0"/>
              <a:t> = 1 and updates </a:t>
            </a:r>
            <a:r>
              <a:rPr lang="en-IN" dirty="0" err="1"/>
              <a:t>UpdatedAt</a:t>
            </a:r>
            <a:r>
              <a:rPr lang="en-IN" dirty="0"/>
              <a:t> / </a:t>
            </a:r>
            <a:r>
              <a:rPr lang="en-IN" dirty="0" err="1"/>
              <a:t>UpdatedBy</a:t>
            </a:r>
            <a:r>
              <a:rPr lang="en-IN" dirty="0"/>
              <a:t> metadata rather than executing a hard SQL DELETE.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56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A04D-2540-CAF3-5EFB-9652F7A0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Import (Bulk Upload) &amp; Export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7061F-8820-842E-E091-C0E521310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0533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Asynchronous Bulk Import</a:t>
            </a:r>
          </a:p>
          <a:p>
            <a:pPr lvl="1"/>
            <a:r>
              <a:rPr lang="en-IN" b="1" dirty="0"/>
              <a:t>Upload &amp; Staging:</a:t>
            </a:r>
            <a:r>
              <a:rPr lang="en-IN" dirty="0"/>
              <a:t> In BulkEmployeeUpload.aspx, CSV file headers are validated, the file is saved to </a:t>
            </a:r>
            <a:r>
              <a:rPr lang="en-IN" dirty="0" err="1"/>
              <a:t>App_Data</a:t>
            </a:r>
            <a:r>
              <a:rPr lang="en-IN" dirty="0"/>
              <a:t>/Uploads/, a job is logged in the database (Status = 'Queued'), and an immediate response is returned to the user without blocking the web request. </a:t>
            </a:r>
          </a:p>
          <a:p>
            <a:pPr lvl="1"/>
            <a:r>
              <a:rPr lang="en-IN" b="1" dirty="0"/>
              <a:t>Background Processing:</a:t>
            </a:r>
            <a:r>
              <a:rPr lang="en-IN" dirty="0"/>
              <a:t> An in-process worker (</a:t>
            </a:r>
            <a:r>
              <a:rPr lang="en-IN" dirty="0" err="1"/>
              <a:t>BackgroundWorkerService.cs</a:t>
            </a:r>
            <a:r>
              <a:rPr lang="en-IN" dirty="0"/>
              <a:t>) running on a </a:t>
            </a:r>
            <a:r>
              <a:rPr lang="en-IN" dirty="0" err="1"/>
              <a:t>System.Threading.Timer</a:t>
            </a:r>
            <a:r>
              <a:rPr lang="en-IN" dirty="0"/>
              <a:t> polls for queued jobs. </a:t>
            </a:r>
          </a:p>
          <a:p>
            <a:pPr lvl="1"/>
            <a:r>
              <a:rPr lang="en-IN" b="1" dirty="0"/>
              <a:t>Transaction Batching:</a:t>
            </a:r>
            <a:r>
              <a:rPr lang="en-IN" dirty="0"/>
              <a:t> Records are processed row-by-row inside an explicit </a:t>
            </a:r>
            <a:r>
              <a:rPr lang="en-IN" dirty="0" err="1"/>
              <a:t>MySqlTransaction</a:t>
            </a:r>
            <a:r>
              <a:rPr lang="en-IN" dirty="0"/>
              <a:t>. If an individual row fails, it rolls back while logging errors, allowing valid rows to proceed. </a:t>
            </a:r>
          </a:p>
          <a:p>
            <a:pPr lvl="1"/>
            <a:r>
              <a:rPr lang="en-IN" b="1" dirty="0"/>
              <a:t>Soft Rollback:</a:t>
            </a:r>
            <a:r>
              <a:rPr lang="en-IN" dirty="0"/>
              <a:t> Admins can trigger a rollback for a specific </a:t>
            </a:r>
            <a:r>
              <a:rPr lang="en-IN" dirty="0" err="1"/>
              <a:t>JobId</a:t>
            </a:r>
            <a:r>
              <a:rPr lang="en-IN" dirty="0"/>
              <a:t>, which soft-deletes all employees associated with that batch import and logs the action. </a:t>
            </a:r>
          </a:p>
          <a:p>
            <a:pPr marL="0" indent="0">
              <a:buNone/>
            </a:pPr>
            <a:r>
              <a:rPr lang="en-IN" b="1" dirty="0"/>
              <a:t>Email Notification</a:t>
            </a:r>
          </a:p>
          <a:p>
            <a:pPr lvl="1"/>
            <a:r>
              <a:rPr lang="en-IN" dirty="0"/>
              <a:t>As valid employees are created during the batch upload, </a:t>
            </a:r>
            <a:r>
              <a:rPr lang="en-IN" dirty="0" err="1"/>
              <a:t>EmailService.cs</a:t>
            </a:r>
            <a:r>
              <a:rPr lang="en-IN" dirty="0"/>
              <a:t> asynchronously dispatches a welcome email from the background loop. </a:t>
            </a:r>
          </a:p>
          <a:p>
            <a:pPr lvl="1"/>
            <a:r>
              <a:rPr lang="en-IN" dirty="0"/>
              <a:t>Every dispatched notification is logged into an </a:t>
            </a:r>
            <a:r>
              <a:rPr lang="en-IN" dirty="0" err="1"/>
              <a:t>EmailLog</a:t>
            </a:r>
            <a:r>
              <a:rPr lang="en-IN" dirty="0"/>
              <a:t> database table for tracking and deliverability audits. </a:t>
            </a:r>
          </a:p>
          <a:p>
            <a:pPr marL="0" indent="0">
              <a:buNone/>
            </a:pPr>
            <a:r>
              <a:rPr lang="en-IN" b="1" dirty="0"/>
              <a:t>Multi-Format Exporting (ReportBuilder.aspx)</a:t>
            </a:r>
          </a:p>
          <a:p>
            <a:pPr lvl="1"/>
            <a:r>
              <a:rPr lang="en-IN" b="1" dirty="0"/>
              <a:t>CSV Export:</a:t>
            </a:r>
            <a:r>
              <a:rPr lang="en-IN" dirty="0"/>
              <a:t> Constructed dynamically using StringBuilder and streamed directly to </a:t>
            </a:r>
            <a:r>
              <a:rPr lang="en-IN" dirty="0" err="1"/>
              <a:t>Response.OutputStream</a:t>
            </a:r>
            <a:r>
              <a:rPr lang="en-IN" dirty="0"/>
              <a:t> as UTF-8 encoded bytes with the text/csv MIME header. </a:t>
            </a:r>
          </a:p>
          <a:p>
            <a:pPr lvl="1"/>
            <a:r>
              <a:rPr lang="en-IN" b="1" dirty="0"/>
              <a:t>PDF Export:</a:t>
            </a:r>
            <a:r>
              <a:rPr lang="en-IN" dirty="0"/>
              <a:t> Generates formatted tabular documents containing custom headers, timestamps, and page styling using </a:t>
            </a:r>
            <a:r>
              <a:rPr lang="en-IN" b="1" dirty="0"/>
              <a:t>iTextSharp</a:t>
            </a:r>
            <a:r>
              <a:rPr lang="en-IN" dirty="0"/>
              <a:t>, streamed with the application/pdf MIME type.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18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67BF-918D-BBB4-D6AE-EF2E358D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Styling &amp; UI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61C3C-DAC1-8966-9D07-4630E83B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Responsive Framework:</a:t>
            </a:r>
            <a:r>
              <a:rPr lang="en-IN" dirty="0"/>
              <a:t> Integrated with </a:t>
            </a:r>
            <a:r>
              <a:rPr lang="en-IN" b="1" dirty="0"/>
              <a:t>Bootstrap 5</a:t>
            </a:r>
            <a:r>
              <a:rPr lang="en-IN" dirty="0"/>
              <a:t> for modern grid systems, form styling, and responsive navigation. </a:t>
            </a:r>
          </a:p>
          <a:p>
            <a:pPr lvl="0"/>
            <a:r>
              <a:rPr lang="en-IN" b="1" dirty="0"/>
              <a:t>Unified UI Shell (</a:t>
            </a:r>
            <a:r>
              <a:rPr lang="en-IN" b="1" dirty="0" err="1"/>
              <a:t>Site.Master</a:t>
            </a:r>
            <a:r>
              <a:rPr lang="en-IN" b="1" dirty="0"/>
              <a:t>):</a:t>
            </a:r>
            <a:r>
              <a:rPr lang="en-IN" dirty="0"/>
              <a:t> Provides global stylesheets, header navigation, role indicator badges, and unified layouts across all .</a:t>
            </a:r>
            <a:r>
              <a:rPr lang="en-IN" dirty="0" err="1"/>
              <a:t>aspx</a:t>
            </a:r>
            <a:r>
              <a:rPr lang="en-IN" dirty="0"/>
              <a:t> views. </a:t>
            </a:r>
          </a:p>
          <a:p>
            <a:pPr lvl="0"/>
            <a:r>
              <a:rPr lang="en-IN" b="1" dirty="0"/>
              <a:t>Server Controls:</a:t>
            </a:r>
            <a:r>
              <a:rPr lang="en-IN" dirty="0"/>
              <a:t> Form inputs use ASP.NET standard validation controls (</a:t>
            </a:r>
            <a:r>
              <a:rPr lang="en-IN" dirty="0" err="1"/>
              <a:t>RequiredFieldValidator</a:t>
            </a:r>
            <a:r>
              <a:rPr lang="en-IN" dirty="0"/>
              <a:t>, </a:t>
            </a:r>
            <a:r>
              <a:rPr lang="en-IN" dirty="0" err="1"/>
              <a:t>RegularExpressionValidator</a:t>
            </a:r>
            <a:r>
              <a:rPr lang="en-IN" dirty="0"/>
              <a:t>) styled with Bootstrap classes for unified client- and server-side validation.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622119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16</TotalTime>
  <Words>952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Light</vt:lpstr>
      <vt:lpstr>Arial</vt:lpstr>
      <vt:lpstr>Walbaum Display</vt:lpstr>
      <vt:lpstr>Shoji</vt:lpstr>
      <vt:lpstr>Employee Management System</vt:lpstr>
      <vt:lpstr>Introduction</vt:lpstr>
      <vt:lpstr>Web Forms Page Lifecycle Integration</vt:lpstr>
      <vt:lpstr>Project Folder Structure</vt:lpstr>
      <vt:lpstr>Password Hashing &amp; Security</vt:lpstr>
      <vt:lpstr>Authentication, Login Flow &amp; RBAC</vt:lpstr>
      <vt:lpstr>Role-Based Access Control (RBAC)</vt:lpstr>
      <vt:lpstr>Database Connection &amp; Data Access Layer </vt:lpstr>
      <vt:lpstr>Query Execution (Dapper Micro-ORM)</vt:lpstr>
      <vt:lpstr>Import (Bulk Upload) &amp; Export Architecture</vt:lpstr>
      <vt:lpstr>Styling &amp; UI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K</dc:creator>
  <cp:lastModifiedBy>Arun K</cp:lastModifiedBy>
  <cp:revision>2</cp:revision>
  <dcterms:created xsi:type="dcterms:W3CDTF">2026-09-01T13:56:09Z</dcterms:created>
  <dcterms:modified xsi:type="dcterms:W3CDTF">2026-09-01T14:12:53Z</dcterms:modified>
</cp:coreProperties>
</file>